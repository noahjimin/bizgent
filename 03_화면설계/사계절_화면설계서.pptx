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143000"/>
            <a:ext cx="109728" cy="3657600"/>
          </a:xfrm>
          <a:prstGeom prst="rect">
            <a:avLst/>
          </a:prstGeom>
          <a:solidFill>
            <a:srgbClr val="4A719A"/>
          </a:solidFill>
          <a:ln w="12700">
            <a:solidFill>
              <a:srgbClr val="4A71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3258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화면설계서 · 스토리보드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71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BizGent — 소상공인을 위한 AI 디지털 마케팅 에이전트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9260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PROJECT.md → Use Case Diagram → 화면설계서 → 구현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매장·상품 정보와 마케팅 목표를 입력하면 AI가 캠페인 기획부터 콘텐츠 시안, 게시, 매출 기반 성과 분석과 개선 방향까지 돕는 서비스입니다.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5074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 : 사계절   |   프로젝트명 : BizGent   |   작성일 : 2026-10-22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440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정지민 · 엄지훈 · 황아현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원칙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작성 안내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457200" cy="457200"/>
          </a:xfrm>
          <a:prstGeom prst="ellipse">
            <a:avLst/>
          </a:prstGeom>
          <a:solidFill>
            <a:srgbClr val="4A71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단위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051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 1장에 하나의 주요 화면(또는 화면의 한 상태)을 작성합니다.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4A71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연결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965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화면에 관련 Actor와 Use Case ID/명을 반드시 기재합니다.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4A71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880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설명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880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입력·버튼·조회결과·팝업 등에 ①②③ 번호를 붙이고 우측에 동작을 설명합니다.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794760"/>
            <a:ext cx="457200" cy="457200"/>
          </a:xfrm>
          <a:prstGeom prst="ellipse">
            <a:avLst/>
          </a:prstGeom>
          <a:solidFill>
            <a:srgbClr val="4A71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설계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794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정상뿐 아니라 조회결과 없음, 입력오류, 처리불가, 완료 등 필요한 상태를 설계합니다.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709160"/>
            <a:ext cx="457200" cy="457200"/>
          </a:xfrm>
          <a:prstGeom prst="ellipse">
            <a:avLst/>
          </a:prstGeom>
          <a:solidFill>
            <a:srgbClr val="4A71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709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이동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4709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[행위] → [처리] → [이동 화면] 형식으로 다음 동작을 명확히 적습니다.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5669280"/>
            <a:ext cx="10835640" cy="548640"/>
          </a:xfrm>
          <a:prstGeom prst="roundRect">
            <a:avLst>
              <a:gd name="adj" fmla="val 13333"/>
            </a:avLst>
          </a:prstGeom>
          <a:solidFill>
            <a:srgbClr val="EEF3F7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화면의 예쁜 디자인보다 "무엇을 입력하고 → 시스템이 무엇을 처리하고 → 어떤 결과/화면으로 이어지는가"를 우선합니다.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화면구성도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전체 메뉴 구조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Actor는 소상공인 사장님입니다(서비스 관리자 화면은 이번 범위에서 제외). 로그인 후 홈에서 각 메뉴와 캠페인 생성 위자드로 이동합니다.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3520440" cy="457200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진입 (비회원)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63140" y="1755648"/>
            <a:ext cx="0" cy="164592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920240"/>
            <a:ext cx="2514600" cy="502920"/>
          </a:xfrm>
          <a:prstGeom prst="rect">
            <a:avLst/>
          </a:prstGeom>
          <a:solidFill>
            <a:srgbClr val="EEF3FA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랜딩 → 가입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SCR-U-000 → SCR-U-001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423160"/>
            <a:ext cx="0" cy="1426464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98648"/>
            <a:ext cx="182880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697480"/>
            <a:ext cx="2834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697480"/>
            <a:ext cx="28346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랜딩 페이지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374136"/>
            <a:ext cx="182880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172968"/>
            <a:ext cx="2834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172968"/>
            <a:ext cx="28346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이용약관 동의 (팝업)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SCR-U-001-P01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849624"/>
            <a:ext cx="182880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648456"/>
            <a:ext cx="2834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648456"/>
            <a:ext cx="28346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· 로그인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SCR-U-001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57150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가입 CTA 모두 약관 동의로 연결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오류 상태 포함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43400" y="1298448"/>
            <a:ext cx="3520440" cy="457200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12984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소상공인 사장님 · 메인 메뉴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03620" y="1755648"/>
            <a:ext cx="0" cy="164592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920240"/>
            <a:ext cx="2514600" cy="502920"/>
          </a:xfrm>
          <a:prstGeom prst="rect">
            <a:avLst/>
          </a:prstGeom>
          <a:solidFill>
            <a:srgbClr val="EEF3FA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대시보드 (마케팅 작업실)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2423160"/>
            <a:ext cx="0" cy="2852928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2898648"/>
            <a:ext cx="182880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697480"/>
            <a:ext cx="2834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697480"/>
            <a:ext cx="28346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정보 관리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SCR-U-003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3374136"/>
            <a:ext cx="182880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3172968"/>
            <a:ext cx="2834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172968"/>
            <a:ext cx="28346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보관함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SCR-U-007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17720" y="3849624"/>
            <a:ext cx="182880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648456"/>
            <a:ext cx="2834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648456"/>
            <a:ext cx="28346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성과분석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SCR-U-008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17720" y="4325112"/>
            <a:ext cx="182880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4123944"/>
            <a:ext cx="2834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123944"/>
            <a:ext cx="28346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캠페인 개선 방향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SCR-U-009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17720" y="4800600"/>
            <a:ext cx="182880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4599432"/>
            <a:ext cx="2834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4599432"/>
            <a:ext cx="28346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관리 및 크레딧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SCR-U-010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17720" y="5276088"/>
            <a:ext cx="182880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0600" y="5074920"/>
            <a:ext cx="2834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5074920"/>
            <a:ext cx="28346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· 공통 레이아웃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SCR-U-COM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343400" y="57150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 6개 메뉴 + 설정 메뉴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(계정 관리 · 크레딧 · 로그아웃)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183880" y="1298448"/>
            <a:ext cx="3520440" cy="457200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83880" y="12984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생성 위자드 (사이드바 없음)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944100" y="1755648"/>
            <a:ext cx="0" cy="164592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86800" y="1920240"/>
            <a:ext cx="2514600" cy="502920"/>
          </a:xfrm>
          <a:prstGeom prst="rect">
            <a:avLst/>
          </a:prstGeom>
          <a:solidFill>
            <a:srgbClr val="EEF3FA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8680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캠페인 생성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SCR-U-004 ~ 006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458200" y="2423160"/>
            <a:ext cx="0" cy="2852928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58200" y="2898648"/>
            <a:ext cx="182880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41080" y="2697480"/>
            <a:ext cx="2834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41080" y="2697480"/>
            <a:ext cx="28346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목표 설정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SCR-U-004-1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458200" y="3374136"/>
            <a:ext cx="182880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41080" y="3172968"/>
            <a:ext cx="2834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41080" y="3172968"/>
            <a:ext cx="28346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AI 기획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SCR-U-004-2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458200" y="3849624"/>
            <a:ext cx="182880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641080" y="3648456"/>
            <a:ext cx="2834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41080" y="3648456"/>
            <a:ext cx="28346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3-1단계 콘텐츠 설정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SCR-U-005-1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458200" y="4325112"/>
            <a:ext cx="182880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641080" y="4123944"/>
            <a:ext cx="2834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641080" y="4123944"/>
            <a:ext cx="28346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3-2단계 이미지 설정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SCR-U-005-2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458200" y="4800600"/>
            <a:ext cx="182880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41080" y="4599432"/>
            <a:ext cx="2834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41080" y="4599432"/>
            <a:ext cx="28346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시안 비교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SCR-U-006-1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8458200" y="5276088"/>
            <a:ext cx="182880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41080" y="5074920"/>
            <a:ext cx="2834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41080" y="5074920"/>
            <a:ext cx="28346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 게시 (준비·완료)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SCR-U-006-2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8183880" y="57150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단계마다 확인 팝업(SCR-U-004-P01)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단계로 돌아갈 수 없음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화면구성도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상세 구조 · 소상공인 사장님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메뉴별로 팝업·패널·상태 화면까지 표시했습니다. 파란 글씨는 Screen ID, 회색 상자는 같은 화면 안의 상태입니다.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2697480" cy="502920"/>
          </a:xfrm>
          <a:prstGeom prst="rect">
            <a:avLst/>
          </a:prstGeom>
          <a:solidFill>
            <a:srgbClr val="263F5E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80160"/>
            <a:ext cx="2697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회원가입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FD3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SCR-U-001 · 입력 오류 상태 포함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03620" y="1783080"/>
            <a:ext cx="0" cy="18288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965960"/>
            <a:ext cx="2697480" cy="502920"/>
          </a:xfrm>
          <a:prstGeom prst="rect">
            <a:avLst/>
          </a:prstGeom>
          <a:solidFill>
            <a:srgbClr val="EEF3FA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대시보드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SCR-U-002 · 최근 캠페인 없음 상태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52360" y="2217420"/>
            <a:ext cx="548640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965960"/>
            <a:ext cx="32918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1965960"/>
            <a:ext cx="32918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레이아웃 · 설정 메뉴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SCR-U-COM · 계정 관리 SCR-U-COM-P01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03620" y="2468880"/>
            <a:ext cx="0" cy="22860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94460" y="2697480"/>
            <a:ext cx="9464040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94460" y="2697480"/>
            <a:ext cx="0" cy="18288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880360"/>
            <a:ext cx="1783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80360"/>
            <a:ext cx="1783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정보 관리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447288"/>
            <a:ext cx="0" cy="923544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840480"/>
            <a:ext cx="109728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3611880"/>
            <a:ext cx="15361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611880"/>
            <a:ext cx="15361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대표 이미지 카드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SCR-U-003-P01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4370832"/>
            <a:ext cx="109728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142232"/>
            <a:ext cx="1536192" cy="457200"/>
          </a:xfrm>
          <a:prstGeom prst="rect">
            <a:avLst/>
          </a:prstGeom>
          <a:solidFill>
            <a:srgbClr val="F1F4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142232"/>
            <a:ext cx="15361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설정 → 결과 3장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87268" y="2697480"/>
            <a:ext cx="0" cy="18288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95728" y="2880360"/>
            <a:ext cx="1783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95728" y="2880360"/>
            <a:ext cx="1783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생성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SCR-U-004-1 ~ 006-2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32888" y="3447288"/>
            <a:ext cx="0" cy="1984248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32888" y="3840480"/>
            <a:ext cx="109728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42616" y="3611880"/>
            <a:ext cx="15361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42616" y="3611880"/>
            <a:ext cx="15361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확인 팝업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SCR-U-004-P01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32888" y="4370832"/>
            <a:ext cx="109728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42616" y="4142232"/>
            <a:ext cx="15361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42616" y="4142232"/>
            <a:ext cx="15361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 수정 모달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SCR-U-006-1-P01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32888" y="4901184"/>
            <a:ext cx="109728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42616" y="4672584"/>
            <a:ext cx="1536192" cy="457200"/>
          </a:xfrm>
          <a:prstGeom prst="rect">
            <a:avLst/>
          </a:prstGeom>
          <a:solidFill>
            <a:srgbClr val="F1F4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42616" y="4672584"/>
            <a:ext cx="15361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3-2단계 잠금 (이미지 OFF)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32888" y="5431536"/>
            <a:ext cx="109728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42616" y="5202936"/>
            <a:ext cx="15361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42616" y="5202936"/>
            <a:ext cx="15361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 완료 카드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SCR-U-006-2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180076" y="2697480"/>
            <a:ext cx="0" cy="18288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88536" y="2880360"/>
            <a:ext cx="1783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88536" y="2880360"/>
            <a:ext cx="1783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보관함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SCR-U-007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425696" y="3447288"/>
            <a:ext cx="0" cy="923544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25696" y="3840480"/>
            <a:ext cx="109728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35424" y="3611880"/>
            <a:ext cx="15361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35424" y="3611880"/>
            <a:ext cx="15361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상세 패널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SCR-U-007-P01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425696" y="4370832"/>
            <a:ext cx="109728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35424" y="4142232"/>
            <a:ext cx="1536192" cy="457200"/>
          </a:xfrm>
          <a:prstGeom prst="rect">
            <a:avLst/>
          </a:prstGeom>
          <a:solidFill>
            <a:srgbClr val="F1F4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35424" y="4142232"/>
            <a:ext cx="15361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검색·필터 결과 없음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72884" y="2697480"/>
            <a:ext cx="0" cy="18288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81344" y="2880360"/>
            <a:ext cx="1783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81344" y="2880360"/>
            <a:ext cx="1783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성과분석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SCR-U-008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18504" y="3447288"/>
            <a:ext cx="0" cy="1453896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18504" y="3840480"/>
            <a:ext cx="109728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28232" y="3611880"/>
            <a:ext cx="15361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28232" y="3611880"/>
            <a:ext cx="15361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데이터 올리기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SCR-U-008-P01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318504" y="4370832"/>
            <a:ext cx="109728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28232" y="4142232"/>
            <a:ext cx="1536192" cy="457200"/>
          </a:xfrm>
          <a:prstGeom prst="rect">
            <a:avLst/>
          </a:prstGeom>
          <a:solidFill>
            <a:srgbClr val="F1F4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28232" y="4142232"/>
            <a:ext cx="15361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올리기·2 확인·3 완료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318504" y="4901184"/>
            <a:ext cx="109728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28232" y="4672584"/>
            <a:ext cx="1536192" cy="457200"/>
          </a:xfrm>
          <a:prstGeom prst="rect">
            <a:avLst/>
          </a:prstGeom>
          <a:solidFill>
            <a:srgbClr val="F1F4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28232" y="4672584"/>
            <a:ext cx="15361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데이터 없음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965692" y="2697480"/>
            <a:ext cx="0" cy="18288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74152" y="2880360"/>
            <a:ext cx="1783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074152" y="2880360"/>
            <a:ext cx="1783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캠페인 개선 방향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SCR-U-009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211312" y="3447288"/>
            <a:ext cx="0" cy="1453896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11312" y="3840480"/>
            <a:ext cx="109728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21040" y="3611880"/>
            <a:ext cx="1536192" cy="457200"/>
          </a:xfrm>
          <a:prstGeom prst="rect">
            <a:avLst/>
          </a:prstGeom>
          <a:solidFill>
            <a:srgbClr val="F1F4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21040" y="3611880"/>
            <a:ext cx="15361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적음 (분석 중심)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211312" y="4370832"/>
            <a:ext cx="109728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321040" y="4142232"/>
            <a:ext cx="1536192" cy="457200"/>
          </a:xfrm>
          <a:prstGeom prst="rect">
            <a:avLst/>
          </a:prstGeom>
          <a:solidFill>
            <a:srgbClr val="F1F4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321040" y="4142232"/>
            <a:ext cx="15361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많음 (Good/Bad)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211312" y="4901184"/>
            <a:ext cx="109728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321040" y="4672584"/>
            <a:ext cx="15361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321040" y="4672584"/>
            <a:ext cx="15361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캠페인으로 만들기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SCR-U-004-1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0858500" y="2697480"/>
            <a:ext cx="0" cy="18288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966960" y="2880360"/>
            <a:ext cx="1783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966960" y="2880360"/>
            <a:ext cx="1783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관리 및 크레딧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SCR-U-010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10104120" y="3447288"/>
            <a:ext cx="0" cy="923544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104120" y="3840480"/>
            <a:ext cx="109728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213848" y="3611880"/>
            <a:ext cx="1536192" cy="457200"/>
          </a:xfrm>
          <a:prstGeom prst="rect">
            <a:avLst/>
          </a:prstGeom>
          <a:solidFill>
            <a:srgbClr val="F1F4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213848" y="3611880"/>
            <a:ext cx="15361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횟수 소진 (3/3)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0104120" y="4370832"/>
            <a:ext cx="109728" cy="0"/>
          </a:xfrm>
          <a:prstGeom prst="line">
            <a:avLst/>
          </a:prstGeom>
          <a:noFill/>
          <a:ln w="12700">
            <a:solidFill>
              <a:srgbClr val="9FB0C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213848" y="4142232"/>
            <a:ext cx="1536192" cy="457200"/>
          </a:xfrm>
          <a:prstGeom prst="rect">
            <a:avLst/>
          </a:prstGeom>
          <a:solidFill>
            <a:srgbClr val="F1F4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213848" y="4142232"/>
            <a:ext cx="153619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안내 토스트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02920" y="5870448"/>
            <a:ext cx="11228832" cy="457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640080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이미지 생성 → SCR-U-003-P01  |  캠페인으로 만들기 → SCR-U-004-1  |  성과 입력하기 → SCR-U-008-P01  |  이어서 작성하기 → 위자드 해당 단계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목록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Screen List (1/5)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ID: SCR-U 사장님 화면 · COM 공통 레이아웃 · -P01 팝업/모달/패널 · 입력 오류·데이터 적음 등 상태는 같은 ID로 별도 장 작성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594360"/>
                <a:gridCol w="2331720"/>
                <a:gridCol w="2514600"/>
                <a:gridCol w="2011680"/>
                <a:gridCol w="12618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Use Case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랜딩 페이지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회원가입 및 로그인 (진입)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접속 URL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CTA → 약관 동의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SCR-U-001-P01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이용약관 동의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이용약관 동의 («include»)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랜딩 &gt; 이용약관 동의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 3개 동의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비회원 /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회원가입 · 로그인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회원가입 및 로그인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약관 동의 &gt; 로그인·회원가입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오류 상태 포함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SCR-U-COM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레이아웃 (사이드바·상단바·설정)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 현황 조회 (크레딧 메뉴)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후 모든 화면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위자드 화면 제외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SCR-U-COM-P01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관리 카드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 UC 없음 (보조 기능)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&gt; 계정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이름·연락처·비밀번호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대시보드 (마케팅 작업실)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대시보드 조회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&gt; 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캠페인·빠른 시작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정보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상품 정보 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매장 정보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상품·재고·타겟·톤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정보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대표 이미지 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매장 정보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이미지 미리보기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solidFill>
            <a:srgbClr val="EEF3F7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명칭은 유스케이스 다이어그램(2026-10-20)과 같습니다. 화면이 없는 UC는 «extend» 실제 SNS 블로그 게시 연동(선택 기능, 5단계 모의 게시로 대체) 1개입니다.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목록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Screen List (2/5)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ID: SCR-U 사장님 화면 · COM 공통 레이아웃 · -P01 팝업/모달/패널 · 입력 오류·데이터 적음 등 상태는 같은 ID로 별도 장 작성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594360"/>
                <a:gridCol w="2331720"/>
                <a:gridCol w="2514600"/>
                <a:gridCol w="2011680"/>
                <a:gridCol w="12618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Use Case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SCR-U-003-P01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매장 대표 이미지 만들기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대표 이미지 AI 생성 («extend»)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정보 관리 &gt; AI 대표 이미지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생성 API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SCR-U-004-1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1단계 목표 설정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목표 설정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새로운 캠페인 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목표·대상 메뉴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SCR-U-004-1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1단계 목표 설정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상품 등록 정보 불러오기 («extend»)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새로운 캠페인 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타겟·톤 자동 선택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SCR-U-004-P01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단계 확인 팝업 (공통)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UC 없음 (공통 보조 화면)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위자드 각 단계 &gt; 다음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이전 단계 수정 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SCR-U-004-2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2단계 AI 기획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캠페인 기획 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1단계 &gt; 2단계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LLM API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SCR-U-004-2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2단계 AI 기획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캠페인 기획 수정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1단계 &gt; 2단계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타겟·전략 직접 수정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SCR-U-004-2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2단계 AI 기획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기획 방향 재분석 («extend»)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1단계 &gt; 2단계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 전용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SCR-U-005-1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3-1단계 콘텐츠 설정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 유형 및 채널 선택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2단계 &gt; 3-1단계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채널 최대 2개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solidFill>
            <a:srgbClr val="EEF3F7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명칭은 유스케이스 다이어그램(2026-10-20)과 같습니다. 화면이 없는 UC는 «extend» 실제 SNS 블로그 게시 연동(선택 기능, 5단계 모의 게시로 대체) 1개입니다.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목록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Screen List (3/5)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ID: SCR-U 사장님 화면 · COM 공통 레이아웃 · -P01 팝업/모달/패널 · 입력 오류·데이터 적음 등 상태는 같은 ID로 별도 장 작성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594360"/>
                <a:gridCol w="2331720"/>
                <a:gridCol w="2514600"/>
                <a:gridCol w="2011680"/>
                <a:gridCol w="12618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Use Case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SCR-U-005-2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3-2단계 이미지 설정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 이미지 설정 및 생성 («extend»)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3-1단계 &gt; 3-2단계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ON일 때만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SCR-U-005-2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3-2단계 이미지 설정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 이미지 업로드 («extend»)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3-1단계 &gt; 3-2단계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 전용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SCR-U-006-1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4단계 시안 비교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콘텐츠 시안 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3단계 &gt; 4단계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LLM API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SCR-U-006-1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4단계 시안 비교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 비교 및 선택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3단계 &gt; 4단계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A/B 2종 · 복수 선택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SCR-U-006-1-P01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 수정 모달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 문구 및 해시태그 수정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4단계 &gt; 수정하기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수정 무료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SCR-U-006-1-P01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 수정 모달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문구 대안 생성 («extend»)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4단계 &gt; 수정하기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 전용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SCR-U-006-1-P01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 수정 모달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이미지 수정 («extend»)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4단계 &gt; 수정하기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 전용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SCR-U-006-2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5단계 게시 (준비·완료)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게시 상태 등록 및 결과 확인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4단계 &gt; 5단계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모의 게시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solidFill>
            <a:srgbClr val="EEF3F7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명칭은 유스케이스 다이어그램(2026-10-20)과 같습니다. 화면이 없는 UC는 «extend» 실제 SNS 블로그 게시 연동(선택 기능, 5단계 모의 게시로 대체) 1개입니다.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목록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Screen List (4/5)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ID: SCR-U 사장님 화면 · COM 공통 레이아웃 · -P01 팝업/모달/패널 · 입력 오류·데이터 적음 등 상태는 같은 ID로 별도 장 작성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594360"/>
                <a:gridCol w="2331720"/>
                <a:gridCol w="2514600"/>
                <a:gridCol w="2011680"/>
                <a:gridCol w="12618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Use Case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SCR-U-006-2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5단계 게시 (준비·완료)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성과 입력 알림 설정 («extend»)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4단계 &gt; 5단계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7일 뒤 알림 토글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SCR-U-006-2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5단계 게시 (준비·완료)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문구 복사 및 이미지 다운로드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4단계 &gt; 5단계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게시 완료 카드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보관함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보관함 조회 및 검색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캠페인 보관함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검색·필터·정렬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SCR-U-007-P01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상세 패널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상세 조회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보관함 &gt; 상세 보기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이어서 작성하기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SCR-U-007-P01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상세 패널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문구 복사 및 이미지 다운로드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보관함 &gt; 상세 보기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문구 복사·다운로드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성과 분석 조회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성과분석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상품·캠페인·요일별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SCR-U-008-P01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데이터 올리기 (3단계)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데이터 업로드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성과분석 &gt; 매출 데이터 올리기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엑셀·영수증·직접 입력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SCR-U-008-P01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데이터 올리기 (3단계)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인식 결과 확인 및 수정 («extend»)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성과분석 &gt; 매출 데이터 올리기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2단계 결과 확인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solidFill>
            <a:srgbClr val="EEF3F7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명칭은 유스케이스 다이어그램(2026-10-20)과 같습니다. 화면이 없는 UC는 «extend» 실제 SNS 블로그 게시 연동(선택 기능, 5단계 모의 게시로 대체) 1개입니다.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목록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Screen List (5/5)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ID: SCR-U 사장님 화면 · COM 공통 레이아웃 · -P01 팝업/모달/패널 · 입력 오류·데이터 적음 등 상태는 같은 ID로 별도 장 작성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594360"/>
                <a:gridCol w="2331720"/>
                <a:gridCol w="2514600"/>
                <a:gridCol w="2011680"/>
                <a:gridCol w="12618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Use Case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캠페인 개선 방향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캠페인 개선 방향 확인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AI 캠페인 개선 방향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적음 / 많음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캠페인 개선 방향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비인기 메뉴 조언 («include»)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AI 캠페인 개선 방향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기반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캠페인 개선 방향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재고 소진 프로모션 제안 («extend»)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AI 캠페인 개선 방향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재고 기반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캠페인 개선 방향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 제안 기반 캠페인 생성 («extend»)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AI 캠페인 개선 방향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1단계 자동 선택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SCR-U-010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 관리 및 크레딧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 현황 조회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구독 관리 및 크레딧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 횟수·소진 안내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SCR-U-010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 관리 및 크레딧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요금제 구독 및 전환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구독 관리 및 크레딧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상태값 모의 결제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solidFill>
            <a:srgbClr val="EEF3F7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명칭은 유스케이스 다이어그램(2026-10-20)과 같습니다. 화면이 없는 UC는 «extend» 실제 SNS 블로그 게시 연동(선택 기능, 5단계 모의 게시로 대체) 1개입니다.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01 · 랜딩 페이지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랜딩 페이지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비회원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회원가입 및 로그인 (진입 화면)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접속 URL (도메인 루트)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히어로 영역</a:t>
            </a:r>
            <a:endParaRPr lang="en-US" sz="850" dirty="0"/>
          </a:p>
        </p:txBody>
      </p:sp>
      <p:pic>
        <p:nvPicPr>
          <p:cNvPr id="9" name="Image 0" descr="/home/claude/build/img/s0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6776"/>
            <a:ext cx="3291840" cy="225231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36776"/>
            <a:ext cx="3291840" cy="2252312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74904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홍보물 예시·푸터 영역 (스크롤 하단)</a:t>
            </a:r>
            <a:endParaRPr lang="en-US" sz="850" dirty="0"/>
          </a:p>
        </p:txBody>
      </p:sp>
      <p:pic>
        <p:nvPicPr>
          <p:cNvPr id="12" name="Image 1" descr="/home/claude/build/img/s01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36776"/>
            <a:ext cx="3291840" cy="2984313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931920" y="1636776"/>
            <a:ext cx="3291840" cy="2984313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734297" y="1574934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2058603" y="1639904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1651455" y="238056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4995752" y="206871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424558" y="206871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4064508" y="234591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6836584" y="296097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5519848" y="402648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무료로 시작하기 클릭 → 비회원 확인 → 이용약관 동의 팝업(SCR-U-001-P01)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소개·요금제 클릭 → 해당 소개 영역 조회 → 화면 스크롤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대표 이미지 무료 생성하기 클릭 → 가입 흐름 시작 → SCR-U-001-P01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무료로 시작하기(예시 영역) 클릭 → 같은 가입 흐름 → SCR-U-001-P01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 더 보기 클릭 → 업종별 홍보물 예시 추가 조회 → 예시 카드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 카드에 마우스 올림 → 채널·업종 정보 표시 → '이 스타일로 만들어보기' 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화살표 클릭 → 다음 예시 조회 → 카드 슬라이드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푸터 링크 클릭 → 서비스·고객지원·회사 안내 조회 → 해당 내용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0"/>
          <p:cNvSpPr/>
          <p:nvPr/>
        </p:nvSpPr>
        <p:spPr>
          <a:xfrm>
            <a:off x="7516368" y="4796028"/>
            <a:ext cx="4151376" cy="836676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562088" y="4823460"/>
            <a:ext cx="4059936" cy="79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로그인 없이 열람하는 공개 화면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가입 CTA 3개는 모두 SCR-U-001-P01로 연결, 대표 이미지는 가입 후 SCR-U-003-P01에서 생성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예시 카드는 AI 제작 예시이며 실제 매장 성과가 아님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오류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처리불가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완료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시작하기·대표 이미지 생성 → 가입 흐름 시작 → SCR-U-001-P01 이용약관 동의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02 · 이용약관 동의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SCR-U-001-P01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이용약관 동의 (팝업)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비회원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이용약관 동의 («include» 회원가입 및 로그인)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랜딩 &gt; 이용약관 동의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미동의 상태 (버튼 비활성)</a:t>
            </a:r>
            <a:endParaRPr lang="en-US" sz="850" dirty="0"/>
          </a:p>
        </p:txBody>
      </p:sp>
      <p:pic>
        <p:nvPicPr>
          <p:cNvPr id="9" name="Image 0" descr="/home/claude/build/img/s0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6776"/>
            <a:ext cx="3291840" cy="215465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36776"/>
            <a:ext cx="3291840" cy="2154659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74904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항목 동의 완료 (버튼 활성)</a:t>
            </a:r>
            <a:endParaRPr lang="en-US" sz="850" dirty="0"/>
          </a:p>
        </p:txBody>
      </p:sp>
      <p:pic>
        <p:nvPicPr>
          <p:cNvPr id="12" name="Image 1" descr="/home/claude/build/img/s02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36776"/>
            <a:ext cx="3291840" cy="215465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931920" y="1636776"/>
            <a:ext cx="3291840" cy="2154659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73495" y="208824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573495" y="2285751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681228" y="2471291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1938112" y="2662816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61525" y="3297243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3519858" y="1639353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3944805" y="3315199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동의 체크 → 필수 항목 3개 일괄 선택·해제 → 체크 상태 갱신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 항목 개별 체크(만 14세·이용약관·개인정보) → 전체 동의 상태 재계산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이용약관 링크 클릭 → 약관 전문 조회 → 약관 내용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더보기 클릭 → 개인정보 수집·이용 상세 조회 → 상세 내용 펼침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및 계속하기(미동의) → 필수 동의 여부 검증 → 버튼 비활성 유지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클릭 → 동의 취소 → 팝업 닫고 랜딩 유지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및 계속하기(동의 완료) → 동의 항목·일시 임시 저장 → SCR-U-001 로그인 카드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19"/>
          <p:cNvSpPr/>
          <p:nvPr/>
        </p:nvSpPr>
        <p:spPr>
          <a:xfrm>
            <a:off x="7516368" y="5068062"/>
            <a:ext cx="4151376" cy="564642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562088" y="5095494"/>
            <a:ext cx="4059936" cy="518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필수 3개를 모두 체크해야 버튼 활성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동의 정보는 회원가입 완료 시 회원 정보와 함께 저장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오류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처리불가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완료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및 계속하기 → 필수 동의 검증 → SCR-U-001 로그인·회원가입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03 · 로그인·회원가입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회원가입 · 로그인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비회원 / 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회원가입 및 로그인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랜딩 &gt; 이용약관 동의 &gt; 로그인·회원가입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850" dirty="0"/>
          </a:p>
        </p:txBody>
      </p:sp>
      <p:pic>
        <p:nvPicPr>
          <p:cNvPr id="9" name="Image 0" descr="/home/claude/build/img/s0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6776"/>
            <a:ext cx="3291840" cy="397110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36776"/>
            <a:ext cx="3291840" cy="3971109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191403" y="1417320"/>
            <a:ext cx="27728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</a:t>
            </a:r>
            <a:endParaRPr lang="en-US" sz="850" dirty="0"/>
          </a:p>
        </p:txBody>
      </p:sp>
      <p:pic>
        <p:nvPicPr>
          <p:cNvPr id="12" name="Image 1" descr="/home/claude/build/img/s03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283" y="1636776"/>
            <a:ext cx="2407115" cy="398678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374283" y="1636776"/>
            <a:ext cx="2407115" cy="3986784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80506" y="3140964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3108307" y="3924735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780506" y="4290495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2442101" y="483391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4501143" y="261482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4501143" y="308872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501143" y="4036524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4501143" y="443520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501143" y="4615736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5757356" y="500689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이메일·비밀번호 입력 → 필수값·형식 검사 → 오류 시 입력란 아래 안내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보기 아이콘 클릭 → 입력값 유지 → 비밀번호 보기·숨김 전환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클릭 → 계정 인증·세션 생성 → SCR-U-002 홈 이동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회원가입·로그인 링크 클릭 → 카드 전환 → 회원가입 또는 로그인 카드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입력 → 형식·중복 검사 → 중복 시 '이미 가입된 이메일' 안내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비밀번호·비밀번호 확인 입력 → 일치 검사 → 불일치 시 안내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매장명 입력 → 필수값 검사 → 매장 기본 정보로 저장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약관 동의 확인 → 팝업 동의 결과 표시(기본 체크) → 가입 조건 확인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가입하기 클릭 → 회원·매장 생성, 세션 부여 → SCR-U-002 홈 이동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2"/>
          <p:cNvSpPr/>
          <p:nvPr/>
        </p:nvSpPr>
        <p:spPr>
          <a:xfrm>
            <a:off x="7516368" y="5068062"/>
            <a:ext cx="4151376" cy="564642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562088" y="5095494"/>
            <a:ext cx="4059936" cy="518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입력 오류 상태는 다음 장(04 / 04) 참조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가입 시 매장은 매장명만 저장, 업종·상품은 SCR-U-003에서 등록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오류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처리불가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완료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로그인·가입하기 → 인증·회원 생성 → SCR-U-002 홈 대시보드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04 · 입력 오류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회원가입 · 로그인 · 입력 오류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비회원 / 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회원가입 및 로그인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랜딩 &gt; 이용약관 동의 &gt; 로그인·회원가입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6780" y="1417320"/>
            <a:ext cx="35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빈 칸으로 로그인 클릭</a:t>
            </a:r>
            <a:endParaRPr lang="en-US" sz="850" dirty="0"/>
          </a:p>
        </p:txBody>
      </p:sp>
      <p:pic>
        <p:nvPicPr>
          <p:cNvPr id="9" name="Image 0" descr="/home/claude/build/img/s0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60" y="1636776"/>
            <a:ext cx="3229800" cy="39867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79660" y="1636776"/>
            <a:ext cx="3229800" cy="3986784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321595" y="1417320"/>
            <a:ext cx="25124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· 빈 칸으로 가입하기 클릭</a:t>
            </a:r>
            <a:endParaRPr lang="en-US" sz="850" dirty="0"/>
          </a:p>
        </p:txBody>
      </p:sp>
      <p:pic>
        <p:nvPicPr>
          <p:cNvPr id="12" name="Image 1" descr="/home/claude/build/img/s04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475" y="1636776"/>
            <a:ext cx="2146730" cy="398678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504475" y="1636776"/>
            <a:ext cx="2146730" cy="3986784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17068" y="2924471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817068" y="3711735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817068" y="4377881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4587295" y="248572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4587295" y="3576125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4587295" y="476875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이메일로 로그인 클릭 → 필수값 검사 실패 → 빨간 테두리·'이메일을 입력해주세요'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비밀번호 → 필수값 검사 실패 → '비밀번호를 입력해주세요' 안내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수정 후 로그인 클릭 → 재검사·계정 인증 → 성공 시 SCR-U-002 이동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칸으로 가입하기 클릭 → 필수 4개 항목 검사 → 항목별 오류 문구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비밀번호 확인 불일치 → 일치 검사 실패 → 확인 입력란 아래 안내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수정 후 가입하기 → 재검사·이메일 중복 확인 → 성공 시 SCR-U-002 이동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18"/>
          <p:cNvSpPr/>
          <p:nvPr/>
        </p:nvSpPr>
        <p:spPr>
          <a:xfrm>
            <a:off x="7516368" y="5068062"/>
            <a:ext cx="4151376" cy="564642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562088" y="5095494"/>
            <a:ext cx="4059936" cy="518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오류가 나도 다른 입력값은 유지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계정 없음·비밀번호 틀림은 로그인 버튼 위에 안내하고 로그인하지 않음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오류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처리불가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완료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수정 후 로그인·가입하기 → 재검사·인증 → SCR-U-002 홈 대시보드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05 · 공통 레이아웃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SCR-U-COM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레이아웃 (사이드바·상단바·설정)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 현황 조회 (크레딧 메뉴) · 계정 관리는 보조 기능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후 모든 화면 (캠페인 생성 제외)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6947" y="1417320"/>
            <a:ext cx="39953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메뉴·크레딧 하위 메뉴 열림</a:t>
            </a:r>
            <a:endParaRPr lang="en-US" sz="850" dirty="0"/>
          </a:p>
        </p:txBody>
      </p:sp>
      <p:pic>
        <p:nvPicPr>
          <p:cNvPr id="9" name="Image 0" descr="/home/claude/build/img/s0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827" y="1636776"/>
            <a:ext cx="3629545" cy="39867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99827" y="1636776"/>
            <a:ext cx="3629545" cy="3986784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34840" y="14173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관리 카드 (SCR-U-COM-P01)</a:t>
            </a:r>
            <a:endParaRPr lang="en-US" sz="850" dirty="0"/>
          </a:p>
        </p:txBody>
      </p:sp>
      <p:pic>
        <p:nvPicPr>
          <p:cNvPr id="12" name="Image 1" descr="/home/claude/build/img/s05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36776"/>
            <a:ext cx="2606040" cy="2673293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17720" y="1636776"/>
            <a:ext cx="2606040" cy="2673293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37513" y="191743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537513" y="224609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537513" y="5480299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4071795" y="189362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37513" y="5099244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1217709" y="5113533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975994" y="536598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3351615" y="172214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537513" y="5337403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3866978" y="189362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656508" y="2204146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656508" y="3423101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6950472" y="3683705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새로운 캠페인 생성 클릭 → 무료 이용 한도 확인 → SCR-U-004-1 이동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 클릭 → 해당 화면 조회 → 현재 메뉴 강조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설정·프로필(김) 클릭 → 계정 메뉴 팝오버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관리 클릭 → 회원 정보 조회 → 계정 관리 카드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크레딧 및 이용 현황 → 이번 달 이용량 조회 → 사용 횟수·리셋일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이용권 자세히 보기·플랜 업그레이드 → 플랜 정보 조회 → SCR-U-010 이동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로그아웃 클릭 → 확인 후 세션 해제 → SCR-U-000 랜딩 이동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 클릭 → 성과 입력 알림 조회 → 알림 목록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이름·연락처·비밀번호 변경 → 입력 검사 → 변경값 반영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저장하기 클릭 → 계정 정보 저장 → 이름 표시 갱신·완료 알림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Shape 25"/>
          <p:cNvSpPr/>
          <p:nvPr/>
        </p:nvSpPr>
        <p:spPr>
          <a:xfrm>
            <a:off x="7516368" y="5068062"/>
            <a:ext cx="4151376" cy="564642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562088" y="5095494"/>
            <a:ext cx="4059936" cy="518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캠페인 생성 위자드(SCR-U-004~006)는 사이드바 없이 단계 표시줄만 표시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이메일은 로그인 ID라 수정 불가, 회원 탈퇴는 확인 팝업 후 처리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오류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처리불가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완료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메뉴·설정 클릭 → 해당 화면 조회 → 각 화면 / 로그아웃 → SCR-U-000 랜딩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06 · 홈 대시보드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대시보드 (마케팅 작업실)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대시보드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&gt; 홈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8" name="Image 0" descr="/home/claude/build/img/s0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6136" y="1417320"/>
            <a:ext cx="4120128" cy="4206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826136" y="1417320"/>
            <a:ext cx="4120128" cy="4206240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570148" y="185533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822084" y="185533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748772" y="2557476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748772" y="337222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974660" y="323974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675508" y="374317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748772" y="457117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새로운 캠페인 생성 클릭 → 무료 이용 한도 확인 → SCR-U-004-1 이동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매장 대표 이미지 생성하기 클릭 → SCR-U-003 이동 → 대표 이미지 카드(P01) 자동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빠른 시작 카드 클릭 → 새 캠페인·매장/상품 등록·성과 리포트 화면 이동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캠페인 카드 클릭 → 캠페인 상세 조회 → SCR-U-007 상세 패널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보관함 모두 보기 클릭 → 전체 목록 조회 → SCR-U-007 이동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화살표 클릭 → 다음 카드 조회 → 카드 목록 슬라이드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콘텐츠 유형 클릭 → 해당 유형 선택 → SCR-U-004-1에서 캠페인 시작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6"/>
          <p:cNvSpPr/>
          <p:nvPr/>
        </p:nvSpPr>
        <p:spPr>
          <a:xfrm>
            <a:off x="7516368" y="4932045"/>
            <a:ext cx="4151376" cy="700659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562088" y="4959477"/>
            <a:ext cx="4059936" cy="654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최근 캠페인은 최신순, 게시 완료·작성 중 배지 표시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캠페인이 없으면 '첫 캠페인을 만들어보세요' 안내와 생성 버튼 표시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상단바·사이드바 동작은 SCR-U-COM 참조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결과없음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오류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처리불가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완료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캠페인 생성 → 이용 한도 확인 → SCR-U-004-1 / 대표 이미지 생성 → SCR-U-003-P01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07 · 매장 정보 관리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정보 관리 (매장/상품 정보 등록)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상품 정보 등록 · 매장 대표 이미지 등록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매장 정보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정보·상품 등록</a:t>
            </a:r>
            <a:endParaRPr lang="en-US" sz="850" dirty="0"/>
          </a:p>
        </p:txBody>
      </p:sp>
      <p:pic>
        <p:nvPicPr>
          <p:cNvPr id="9" name="Image 0" descr="/home/claude/build/img/s0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6776"/>
            <a:ext cx="3291840" cy="36158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36776"/>
            <a:ext cx="3291840" cy="3615840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74904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타겟·브랜드 톤앤매너 (스크롤 하단)</a:t>
            </a:r>
            <a:endParaRPr lang="en-US" sz="850" dirty="0"/>
          </a:p>
        </p:txBody>
      </p:sp>
      <p:pic>
        <p:nvPicPr>
          <p:cNvPr id="12" name="Image 1" descr="/home/claude/build/img/s07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36776"/>
            <a:ext cx="3291840" cy="36158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931920" y="1636776"/>
            <a:ext cx="3291840" cy="3615840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337004" y="218826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1423404" y="280170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2304684" y="226602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1388844" y="341514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725804" y="349290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3130524" y="332874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2978604" y="498762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4720284" y="245610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720284" y="295722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4720284" y="324234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720284" y="417546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720284" y="433962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6357564" y="498762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이미지 확인 → 저장된 이미지 조회 → 없으면 기본 이미지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AI로 대표 이미지 무료 생성 클릭 → 매장 정보 전달 → SCR-U-003-P01 카드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매장명·업종·연락처 입력 → 필수값 검사 → 캠페인 기획에 반영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업로드 클릭 → 형식·용량 검사 → 상품 썸네일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상품명·가격·간단 설명·재고 입력 → 숫자 형식 검사 → 상품 카드 반영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클릭 → 해당 상품 삭제 → 상품 번호 재정렬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저장하기 클릭 → 매장·상품 정보 저장 → 완료 알림 (취소: 변경 취소)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상품/메뉴 추가 클릭 → 빈 상품 카드 추가 → 입력 대기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타겟·톤앤매너 칩 선택(복수) → 선택값 반영 → 1단계 불러오기에 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 후 추가 → 중복 검사 → 사용자 칩 추가·직접 설명 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Shape 25"/>
          <p:cNvSpPr/>
          <p:nvPr/>
        </p:nvSpPr>
        <p:spPr>
          <a:xfrm>
            <a:off x="7516368" y="4932045"/>
            <a:ext cx="4151376" cy="700659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562088" y="4959477"/>
            <a:ext cx="4059936" cy="654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재고 수량은 선택 입력, SCR-U-009 재고 소진 제안에 활용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저장하지 않고 다른 메뉴로 이동하면 '저장하지 않은 변경 사항' 확인 팝업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오류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처리불가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완료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저장하기 → 매장·상품 정보 저장 → 같은 화면 유지·완료 알림 / 대표 이미지 → SCR-U-003-P01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08 · AI 대표 이미지 카드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SCR-U-003-P01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매장 대표 이미지 만들기 (카드)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대표 이미지 AI 생성 («extend» 매장 대표 이미지 등록)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정보 관리 &gt; AI 대표 이미지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생성 설정</a:t>
            </a:r>
            <a:endParaRPr lang="en-US" sz="850" dirty="0"/>
          </a:p>
        </p:txBody>
      </p:sp>
      <p:pic>
        <p:nvPicPr>
          <p:cNvPr id="9" name="Image 0" descr="/home/claude/build/img/s08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6776"/>
            <a:ext cx="3291840" cy="300015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36776"/>
            <a:ext cx="3291840" cy="3000158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74904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생성 결과 (3장)</a:t>
            </a:r>
            <a:endParaRPr lang="en-US" sz="850" dirty="0"/>
          </a:p>
        </p:txBody>
      </p:sp>
      <p:pic>
        <p:nvPicPr>
          <p:cNvPr id="12" name="Image 1" descr="/home/claude/build/img/s08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36776"/>
            <a:ext cx="3291840" cy="23571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931920" y="1636776"/>
            <a:ext cx="3291840" cy="2357120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68722" y="2248324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568722" y="2665013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568722" y="3098369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568722" y="3548393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2727169" y="4190093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3979164" y="222250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818380" y="2978404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6157468" y="209245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3979164" y="339293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6027420" y="339293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정보 확인 → 매장명·업종·톤앤매너 자동 표시 (읽기 전용)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분위기 선택(택1) → 선택값 저장 → 생성 조건에 반영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담고 싶은 장면 선택(택1) → 대표 메뉴 선택 시 메뉴 목록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요청 입력(선택) → 길이 검사 → 생성 조건에 포함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만들기 클릭 → 필수 선택 검사 → 생성 중 표시 후 결과 3장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카드 클릭 → 1장 선택 → 파란 테두리·체크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다운로드 아이콘 클릭 → 해당 이미지 파일 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만들기(구독 전용) → 구독 여부 확인 → 무료는 구독 안내 팝업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다시 하기 → 이전 선택 유지 → ① 설정 상태로 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이미지로 설정 → 대표 이미지 저장 → 카드 닫힘·미리보기 갱신·완료 알림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2"/>
          <p:cNvSpPr/>
          <p:nvPr/>
        </p:nvSpPr>
        <p:spPr>
          <a:xfrm>
            <a:off x="7516368" y="4796028"/>
            <a:ext cx="4151376" cy="836676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562088" y="4823460"/>
            <a:ext cx="4059936" cy="79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홈 'AI 매장 대표 이미지 생성하기'로 들어오면 SCR-U-003 이동 후 카드 자동 표시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✕·취소 시 생성 취소, 결과를 설정하지 않고 닫으면 저장 안 됨 확인 팝업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오류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처리불가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완료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이미지로 설정 → 대표 이미지 저장 → SCR-U-003 미리보기 갱신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09 · 1단계 목표 설정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SCR-U-004-1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생성 1단계 – 목표 설정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목표 설정 · 매장 상품 등록 정보 불러오기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새로운 캠페인 생성 &gt; 1단계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8" name="Image 0" descr="/home/claude/build/img/s0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1532" y="1417320"/>
            <a:ext cx="3829337" cy="4206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971532" y="1417320"/>
            <a:ext cx="3829337" cy="4206240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634275" y="2337341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2634275" y="363388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297625" y="392536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3207168" y="4282161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2634275" y="4045969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2634275" y="4397745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2634275" y="4799775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066507" y="5332465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915646" y="1462925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카드 선택(택1) → 선택 카드 강조 → AI 기획 기준으로 사용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홍보할 상품·메뉴 선택 → SCR-U-003 상품 목록 표시 → 직접 입력 가능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정보 불러오기 클릭 → SCR-U-003 저장값 조회 → 타겟·톤앤매너 자동 선택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타겟 칩 선택(복수)·기타 입력 → 추가 클릭 → 사용자 칩 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톤앤매너 선택(복수) → 선택값 반영 → AI 문구 톤에 사용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요청 입력(선택) → 길이 검사 → AI 기획 요청에 포함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다음: AI 기획 보기 → 목표·메뉴 필수 검사 → 다음 단계 확인 팝업(P01)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클릭 → 작성 중 상태로 저장 → SCR-U-002 홈 이동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18"/>
          <p:cNvSpPr/>
          <p:nvPr/>
        </p:nvSpPr>
        <p:spPr>
          <a:xfrm>
            <a:off x="7516368" y="4932045"/>
            <a:ext cx="4151376" cy="700659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562088" y="4959477"/>
            <a:ext cx="4059936" cy="654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무료 3/3회 소진 시 1단계 진입 전 업그레이드 안내(SCR-U-010)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SCR-U-009 '캠페인으로 만들기'로 들어오면 목표·메뉴 자동 선택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이전 단계 버튼 없음, 확인 팝업 이후 1단계 내용 수정 불가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오류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처리불가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완료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AI 기획 보기 → 확인 팝업 '확인하고 다음으로' → SCR-U-004-2 AI 기획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10 · 다음 단계 확인 팝업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SCR-U-004-P01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단계 확인 팝업 (위자드 공통)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UC 없음 (캠페인 생성 공통 보조 화면)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생성 각 단계 &gt; [다음]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4173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→ 5단계 팝업 (실제 캡처)</a:t>
            </a:r>
            <a:endParaRPr lang="en-US" sz="850" dirty="0"/>
          </a:p>
        </p:txBody>
      </p:sp>
      <p:pic>
        <p:nvPicPr>
          <p:cNvPr id="9" name="Image 0" descr="/home/claude/build/img/s10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6776"/>
            <a:ext cx="3429000" cy="37665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36776"/>
            <a:ext cx="3429000" cy="3766500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066076" y="1417320"/>
            <a:ext cx="32064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 확대</a:t>
            </a:r>
            <a:endParaRPr lang="en-US" sz="850" dirty="0"/>
          </a:p>
        </p:txBody>
      </p:sp>
      <p:pic>
        <p:nvPicPr>
          <p:cNvPr id="12" name="Image 1" descr="/home/claude/build/img/s10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956" y="1636776"/>
            <a:ext cx="2840649" cy="151790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248956" y="1636776"/>
            <a:ext cx="2840649" cy="1517904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3310128"/>
          <a:ext cx="310896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245059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3716" marB="13716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제목 / 안내 문구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3716" marB="13716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→ 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3716" marB="13716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기획 단계로 넘어갈까요? / 선택한 목표와 대상 메뉴로 AI가 캠페인을 기획해요.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3716" marB="13716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→ 3-1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3716" marB="13716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 설정으로 넘어갈까요? / 타겟 고객과 캠페인 방향이 확정돼요.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3716" marB="13716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3-1 → 3-2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3716" marB="13716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설정으로 넘어갈까요? / 선택한 채널과 콘텐츠 설정이 확정돼요.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3716" marB="13716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3-1 → 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3716" marB="13716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시안을 만들까요? / 광고 이미지 없이 문구 시안을 만들어요. (이미지 OFF)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3716" marB="13716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3-2 → 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3716" marB="13716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시안을 만들까요? / 설정한 내용으로 AI가 시안을 만들어요.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3716" marB="13716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→ 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3716" marB="13716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게시 단계로 넘어갈까요? / 시안 선택과 수정 내용은 이후 변경할 수 없어요.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13716" marB="13716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905544" y="513162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5158261" y="2810996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5657001" y="2810996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단계 [다음] 클릭 → 단계별 필수값 검사 통과 → 확인 팝업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취소·✕·Esc·바깥 클릭 → 팝업 닫기 → 현재 단계·입력값 유지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확인하고 다음으로 클릭 → 현재 단계 확정(수정 불가) → 다음 단계 이동·AI 처리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7516368" y="4796028"/>
            <a:ext cx="4151376" cy="836676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62088" y="4823460"/>
            <a:ext cx="4059936" cy="79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모든 팝업에 '이전 단계로 돌아갈 수 없어요' 공통 안내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단계 표시줄 클릭·브라우저 뒤로 가기로도 이전 단계 이동 불가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1~3단계 팝업은 프로토타입 반영 후 캡처 교체 예정 (현재 캡처는 4→5단계)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오류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처리불가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완료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확인하고 다음으로 → 단계 확정 → 다음 단계 화면 / 취소 → 현재 단계 유지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11 · 2단계 AI 기획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SCR-U-004-2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생성 2단계 – AI 기획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캠페인 기획 생성 · AI 캠페인 기획 수정 · 캠페인 기획 방향 재분석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1단계 &gt; 2단계 AI 기획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6947" y="1417320"/>
            <a:ext cx="39953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기획 결과</a:t>
            </a:r>
            <a:endParaRPr lang="en-US" sz="850" dirty="0"/>
          </a:p>
        </p:txBody>
      </p:sp>
      <p:pic>
        <p:nvPicPr>
          <p:cNvPr id="9" name="Image 0" descr="/home/claude/build/img/s1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827" y="1636776"/>
            <a:ext cx="3629545" cy="39867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99827" y="1636776"/>
            <a:ext cx="3629545" cy="3986784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34840" y="14173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 중</a:t>
            </a:r>
            <a:endParaRPr lang="en-US" sz="850" dirty="0"/>
          </a:p>
        </p:txBody>
      </p:sp>
      <p:pic>
        <p:nvPicPr>
          <p:cNvPr id="12" name="Image 1" descr="/home/claude/build/img/s11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36776"/>
            <a:ext cx="2606040" cy="12344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17720" y="1636776"/>
            <a:ext cx="2606040" cy="1234440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79496" y="247473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2827665" y="248425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779496" y="320826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779496" y="3903685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779496" y="4256161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3361141" y="193172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2446610" y="5342166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5792724" y="217170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타겟 고객 확인 → AI 분석 결과 조회 → 연령대·특징·주요 채널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클릭 → 편집 모드 전환 → 타겟·전략 직접 수정(무료)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캠페인 전략 확인 → 방향·추천 톤·추천 채널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분석받기 클릭 → 구독 확인 → 구독: 방향 입력 후 재분석 / 무료: 구독 안내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기대 효과 확인 → 예상 도달·게시 빈도·진행 기간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확정된 캠페인 내용 확인 → 1단계 목표·메뉴·타겟 표시 (읽기 전용)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다음: 콘텐츠 생성하기 → 확인 팝업(P01) → SCR-U-005-1 이동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분석 중 → 로딩 표시 → 완료 시 결과 카드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0"/>
          <p:cNvSpPr/>
          <p:nvPr/>
        </p:nvSpPr>
        <p:spPr>
          <a:xfrm>
            <a:off x="7516368" y="4932045"/>
            <a:ext cx="4151376" cy="700659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562088" y="4959477"/>
            <a:ext cx="4059936" cy="654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재분석은 구독 전용(크레딧 차감, 화면에 차감량 미표시)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응답 실패 시 '다시 시도' 안내, 1단계 내용 유지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오른쪽 요약 패널은 2~4단계 공통, 접기(») 가능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오류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처리불가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완료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콘텐츠 생성하기 → 확인 팝업·전략 확정 → SCR-U-005-1 콘텐츠 설정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12 · 3-1단계 콘텐츠 설정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SCR-U-005-1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생성 3-1단계 – 콘텐츠 설정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 유형 및 채널 선택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2단계 &gt; 3-1단계 콘텐츠 설정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6947" y="1417320"/>
            <a:ext cx="39953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이미지 ON</a:t>
            </a:r>
            <a:endParaRPr lang="en-US" sz="850" dirty="0"/>
          </a:p>
        </p:txBody>
      </p:sp>
      <p:pic>
        <p:nvPicPr>
          <p:cNvPr id="9" name="Image 0" descr="/home/claude/build/img/s1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827" y="1636776"/>
            <a:ext cx="3629545" cy="39867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99827" y="1636776"/>
            <a:ext cx="3629545" cy="3986784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34840" y="14173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이미지 OFF · 채널 미선택</a:t>
            </a:r>
            <a:endParaRPr lang="en-US" sz="850" dirty="0"/>
          </a:p>
        </p:txBody>
      </p:sp>
      <p:pic>
        <p:nvPicPr>
          <p:cNvPr id="12" name="Image 1" descr="/home/claude/build/img/s12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36776"/>
            <a:ext cx="2606040" cy="31039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17720" y="1636776"/>
            <a:ext cx="2606040" cy="3103980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17601" y="252236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827128" y="315110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827128" y="332257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817601" y="4046581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817601" y="4275213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2541874" y="5342166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560733" y="328139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6273274" y="4519259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 유형 선택(복수) → 홍보 문구·해시태그·SNS 캡션 → 시안 구성에 반영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게시 채널 선택(무료 최대 2개) → 초과 선택 시 안내 → 채널별 문구 구성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기타 채널 선택 → 채널명·분위기 입력 → 문구 생성 조건에 포함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 이미지 토글 → ON: 3-2단계 활성 / OFF: 3-2단계 잠금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 확인 → 채널 1개: 시안 A·B / 2개: 채널별 시안 A·B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다음: 이미지 설정 → 필수 검사 → 확인 팝업(P01) 후 SCR-U-005-2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다음: 시안 비교(OFF) → 확인 팝업 → AI 시안 생성 후 SCR-U-006-1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0"/>
          <p:cNvSpPr/>
          <p:nvPr/>
        </p:nvSpPr>
        <p:spPr>
          <a:xfrm>
            <a:off x="7516368" y="4932045"/>
            <a:ext cx="4151376" cy="700659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562088" y="4959477"/>
            <a:ext cx="4059936" cy="654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채널을 선택하지 않으면 다음 버튼 비활성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버튼 문구는 토글에 따라 '다음: 이미지 설정' / '다음: 시안 비교'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구독 시 채널 한도 확대 여부는 검토 중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오류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처리불가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완료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→ 확인 팝업 → SCR-U-005-2 / OFF → 확인 팝업·AI 시안 생성 → SCR-U-006-1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13 · 3-2단계 이미지 설정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SCR-U-005-2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생성 3-2단계 – 이미지 설정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 이미지 설정 및 생성 · 참고 이미지 업로드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3-1단계 &gt; 3-2단계 이미지 설정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</a:t>
            </a:r>
            <a:endParaRPr lang="en-US" sz="850" dirty="0"/>
          </a:p>
        </p:txBody>
      </p:sp>
      <p:pic>
        <p:nvPicPr>
          <p:cNvPr id="9" name="Image 0" descr="/home/claude/build/img/s1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6776"/>
            <a:ext cx="3291840" cy="36158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36776"/>
            <a:ext cx="3291840" cy="3615840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74904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(스크롤)</a:t>
            </a:r>
            <a:endParaRPr lang="en-US" sz="850" dirty="0"/>
          </a:p>
        </p:txBody>
      </p:sp>
      <p:pic>
        <p:nvPicPr>
          <p:cNvPr id="12" name="Image 1" descr="/home/claude/build/img/s13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36776"/>
            <a:ext cx="3291840" cy="36158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931920" y="1636776"/>
            <a:ext cx="3291840" cy="3615840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54444" y="249498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4444" y="287082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654444" y="320778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4444" y="386874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89004" y="401994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654444" y="442170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037724" y="227466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4037724" y="295722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037724" y="359226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5541084" y="498762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목적 선택 → 목표 기반 기본값(AI 추천) → 직접 입력 가능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주인공 상품 선택 → 1단계 대상 메뉴 기본 선택 → 이미지 중심 상품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스타일 선택 → 사진 느낌·일러스트·미니멀·3D 렌더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분위기와 색감 선택 → AI 추천값 표시 → 직접 입력 가능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컬러 반영 체크 → 매장 브랜드 색 적용 여부 저장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비율 확인 → 채널별 권장 비율 자동 추천 → 변경 가능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 이미지 업로드 → 구독 확인 → 무료는 잠금·요금제 보기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요청 입력(선택) → 300자 검사 → 생성 조건에 포함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이렇게 만들어요 확인 → 설정 요약·미리보기 자리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 생성 시작 → 확인 팝업(P01) → AI 시안 생성 후 SCR-U-006-1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2"/>
          <p:cNvSpPr/>
          <p:nvPr/>
        </p:nvSpPr>
        <p:spPr>
          <a:xfrm>
            <a:off x="7516368" y="4932045"/>
            <a:ext cx="4151376" cy="700659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562088" y="4959477"/>
            <a:ext cx="4059936" cy="654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3-1단계에서 광고 이미지 OFF면 이 단계는 잠금(건너뜀)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추천 배지 항목은 매장 정보·목표로 미리 채움, 생성 실패 시 설정값 유지·재시도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오류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처리불가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완료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생성 시작 → 확인 팝업·AI 시안 생성 → SCR-U-006-1 시안 비교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14 · 4단계 시안 비교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SCR-U-006-1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생성 4단계 – 시안 비교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콘텐츠 시안 생성 · 시안 비교 및 선택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3단계 &gt; 4단계 시안 비교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6947" y="1417320"/>
            <a:ext cx="39953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시안 A · B</a:t>
            </a:r>
            <a:endParaRPr lang="en-US" sz="850" dirty="0"/>
          </a:p>
        </p:txBody>
      </p:sp>
      <p:pic>
        <p:nvPicPr>
          <p:cNvPr id="9" name="Image 0" descr="/home/claude/build/img/s1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827" y="1636776"/>
            <a:ext cx="3629545" cy="39867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99827" y="1636776"/>
            <a:ext cx="3629545" cy="3986784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34840" y="14173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시안 생성 중</a:t>
            </a:r>
            <a:endParaRPr lang="en-US" sz="850" dirty="0"/>
          </a:p>
        </p:txBody>
      </p:sp>
      <p:pic>
        <p:nvPicPr>
          <p:cNvPr id="12" name="Image 1" descr="/home/claude/build/img/s14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36776"/>
            <a:ext cx="2606040" cy="13030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17720" y="1636776"/>
            <a:ext cx="2606040" cy="1303020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17575" y="231278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760443" y="365600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1122445" y="365600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3457344" y="193172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708048" y="5342166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5767324" y="220726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 A·B 비교 → 채널별 이미지·문구·해시태그 표시 (무료·구독 모두 2종)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수정하기 클릭 → 시안 정보 전달 → 시안 수정 모달(P01)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게시할 시안으로 선택 → 복수 선택 가능 → 체크·'선택됨'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확정된 캠페인 내용 확인 → 1~3단계 확정값 표시 → 접기 가능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다음: 게시하기 → 선택 시안 1개 이상 검사 → 확인 팝업(P01) 후 SCR-U-006-2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시안 생성 중 → 로딩 표시 → 완료 시 시안 카드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18"/>
          <p:cNvSpPr/>
          <p:nvPr/>
        </p:nvSpPr>
        <p:spPr>
          <a:xfrm>
            <a:off x="7516368" y="4932045"/>
            <a:ext cx="4151376" cy="700659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562088" y="4959477"/>
            <a:ext cx="4059936" cy="654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시안을 선택하기 전에는 '다음: 게시하기' 비활성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선택한 시안 카드에 이미지 다운로드 아이콘 표시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시안 재생성 기능 없음 (직접 수정, 구독 시 AI 수정)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오류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처리불가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완료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게시하기 → 확인 팝업 → SCR-U-006-2 게시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15 · 시안 수정 모달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SCR-U-006-1-P01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 수정 모달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 문구 및 해시태그 수정 · AI 문구 대안 생성 · AI 이미지 수정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4단계 &gt; 수정하기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8" name="Image 0" descr="/home/claude/build/img/s1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364" y="1417320"/>
            <a:ext cx="5477672" cy="4206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47364" y="1417320"/>
            <a:ext cx="5477672" cy="4206240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37026" y="2229889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675265" y="3415284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637026" y="385502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3403438" y="2191651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89759" y="3969743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189759" y="5116899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175733" y="1713669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606311" y="5116899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 문구 직접 수정 → 300자 검사 → 글자 수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해시태그 추가 클릭 → 입력·중복 검사 → 태그 칩 추가·삭제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문구 대안 보기(구독) → 구독 확인 → 대안 3가지 / 무료: 구독 안내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다운로드 클릭 → 시안 이미지 파일 저장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AI로 이미지 수정하기(구독) → 수정 방향 입력 → AI 이미지 재생성 / 무료: 구독 안내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취소·✕ 클릭 → 변경 내용 취소 → 4단계 유지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저장하기 클릭 → 문구·해시태그 저장 → 시안 카드 갱신·완료 알림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7"/>
          <p:cNvSpPr/>
          <p:nvPr/>
        </p:nvSpPr>
        <p:spPr>
          <a:xfrm>
            <a:off x="7516368" y="4932045"/>
            <a:ext cx="4151376" cy="700659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562088" y="4959477"/>
            <a:ext cx="4059936" cy="654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직접 수정·다운로드는 무료, AI 수정은 구독 전용(크레딧 차감량 미표시)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'내 사진으로 바꾸기'는 제외 기능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저장 실패 시 입력 유지·재시도 안내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오류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처리불가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완료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저장하기 → 시안 저장 → SCR-U-006-1 시안 카드 갱신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16 · 5단계 게시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SCR-U-006-2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생성 5단계 – 게시 (준비·완료)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게시 상태 등록 및 결과 확인 · 캠페인 성과 입력 알림 설정 · 문구 복사 및 이미지 다운로드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4단계 &gt; 5단계 게시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 준비</a:t>
            </a:r>
            <a:endParaRPr lang="en-US" sz="850" dirty="0"/>
          </a:p>
        </p:txBody>
      </p:sp>
      <p:pic>
        <p:nvPicPr>
          <p:cNvPr id="9" name="Image 0" descr="/home/claude/build/img/s1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6776"/>
            <a:ext cx="3291840" cy="36158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36776"/>
            <a:ext cx="3291840" cy="3615840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74904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 완료 카드</a:t>
            </a:r>
            <a:endParaRPr lang="en-US" sz="850" dirty="0"/>
          </a:p>
        </p:txBody>
      </p:sp>
      <p:pic>
        <p:nvPicPr>
          <p:cNvPr id="12" name="Image 1" descr="/home/claude/build/img/s16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36776"/>
            <a:ext cx="3291840" cy="36158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931920" y="1636776"/>
            <a:ext cx="3291840" cy="3615840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155564" y="230058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1198764" y="270666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1121004" y="498762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4193244" y="290538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4240764" y="338922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5770044" y="299178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5808924" y="339354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5644764" y="412362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059484" y="412362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4193244" y="412362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요약 확인 → 캠페인명·목표·게시 준비 완료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시안·채널 확인 → 게시될 시안 목록·미리보기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게시하기 클릭 → 선택 시안 일괄 게시(모의) → 게시 완료 카드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채널별 게시 결과 확인 → 시안·채널·게시 시각·게시 완료 배지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문구 복사·이미지 다운로드 → 클립보드 복사·파일 저장 → 직접 업로드용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할 일 확인 → 오늘 게시 / 7일 뒤 성과·매출 입력 / AI 리포트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7일 뒤 알림 받기 토글(기본 ON) → 알림 일정 저장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캠페인 만들기 → 이용 한도 확인 → SCR-U-004-1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보관함 바로가기 → 게시 데이터 저장 → SCR-U-007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홈으로 → SCR-U-002 이동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2"/>
          <p:cNvSpPr/>
          <p:nvPr/>
        </p:nvSpPr>
        <p:spPr>
          <a:xfrm>
            <a:off x="7516368" y="4932045"/>
            <a:ext cx="4151376" cy="700659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562088" y="4959477"/>
            <a:ext cx="4059936" cy="654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실제 SNS 블로그 게시 연동(«extend»)은 선택 기능, 현재는 게시 상태만 저장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게시 실패 시 채널별 실패 배지와 다시 시도 안내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오류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처리불가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완료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 보관함 바로가기 → 게시 데이터 저장 → SCR-U-007 캠페인 보관함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17 · 캠페인 보관함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보관함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보관함 조회 및 검색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캠페인 보관함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8" name="Image 0" descr="/home/claude/build/img/s1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121" y="1417320"/>
            <a:ext cx="5080158" cy="4206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346121" y="1417320"/>
            <a:ext cx="5080158" cy="4206240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96539" y="187571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2970868" y="187571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5069904" y="187571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5782071" y="187571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288372" y="210440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2407313" y="3558214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363933" y="3558214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323095" y="1500015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캠페인명 검색 → 이름 포함 조회 → 결과 카드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필터 클릭 → 전체·게시 완료·작성 중 조회 → 목록 갱신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 선택 → 최신순 등 기준 적용 → 목록 재정렬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보기 전환 클릭 → 그리드·목록 → 표시 방식 변경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카드 확인 → 대표 시안 이미지·상태·태그·게시일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 보기 클릭 → 캠페인 상세 조회 → 상세 패널(P01)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이어서 만들기(작성 중) → 저장 단계 조회 → 위자드 해당 단계 이동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캠페인 만들기 → 이용 한도 확인 → SCR-U-004-1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7"/>
          <p:cNvSpPr/>
          <p:nvPr/>
        </p:nvSpPr>
        <p:spPr>
          <a:xfrm>
            <a:off x="7516368" y="4932045"/>
            <a:ext cx="4151376" cy="700659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562088" y="4959477"/>
            <a:ext cx="4059936" cy="654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검색·필터 결과가 없으면 '조건에 맞는 캠페인이 없어요' 안내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캠페인이 하나도 없으면 첫 캠페인 만들기 안내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시안 2개 이상 게시한 캠페인은 게시 시안 수 표시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결과없음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오류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처리불가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완료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보기 → 캠페인 상세 조회 → SCR-U-007-P01 상세 패널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18 · 캠페인 상세 패널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SCR-U-007-P01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상세 패널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상세 조회 · 문구 복사 및 이미지 다운로드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보관함 &gt; 상세 보기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50434" y="1417320"/>
            <a:ext cx="18882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 완료 캠페인</a:t>
            </a:r>
            <a:endParaRPr lang="en-US" sz="850" dirty="0"/>
          </a:p>
        </p:txBody>
      </p:sp>
      <p:pic>
        <p:nvPicPr>
          <p:cNvPr id="9" name="Image 0" descr="/home/claude/build/img/s18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3314" y="1636776"/>
            <a:ext cx="1522493" cy="39867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433314" y="1636776"/>
            <a:ext cx="1522493" cy="3986784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633714" y="1417320"/>
            <a:ext cx="18882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중 캠페인</a:t>
            </a:r>
            <a:endParaRPr lang="en-US" sz="850" dirty="0"/>
          </a:p>
        </p:txBody>
      </p:sp>
      <p:pic>
        <p:nvPicPr>
          <p:cNvPr id="12" name="Image 1" descr="/home/claude/build/img/s18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594" y="1636776"/>
            <a:ext cx="1522493" cy="398678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816594" y="1636776"/>
            <a:ext cx="1522493" cy="3986784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353832" y="1658494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1353832" y="1843926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1353832" y="220503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2699377" y="294675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2339549" y="352745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1353832" y="3688485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407510" y="447901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2456664" y="542568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5395883" y="542568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상태·게시 일시 확인 → 게시 완료·작성 중 배지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정보 확인 → 목표·대상 메뉴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기획 확인 → 방향·타겟·전략·기대효과 표시 (작성 중은 '-')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다운로드 아이콘 클릭 → 게시 시안 이미지 저장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문구 복사 클릭 → 문구·해시태그 클립보드 복사 → 완료 알림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채널별 게시 결과 확인 → 채널·게시 시각·게시 완료 배지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입력하기 클릭 → 알림 상태 확인 → SCR-U-008-P01 매출 업로드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닫기·✕·바깥 클릭 → 패널 닫기 → 보관함 목록 유지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이어서 작성하기(작성 중) → 마지막 저장 단계 조회 → 위자드 이동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1"/>
          <p:cNvSpPr/>
          <p:nvPr/>
        </p:nvSpPr>
        <p:spPr>
          <a:xfrm>
            <a:off x="7516368" y="4932045"/>
            <a:ext cx="4151376" cy="700659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562088" y="4959477"/>
            <a:ext cx="4059936" cy="654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게시 시안이 2개 이상이면 시안별로 모두 표시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성과 입력 알림이 꺼져 있으면 '입력 알림이 꺼져 있어요' 안내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별도 페이지가 아닌 보관함 위 오른쪽 슬라이드 패널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오류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처리불가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완료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입력하기 → SCR-U-008-P01 / 이어서 작성하기 → SCR-U-004~006 해당 단계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19 · 성과분석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성과분석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성과 분석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성과분석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4173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상품별 탭</a:t>
            </a:r>
            <a:endParaRPr lang="en-US" sz="850" dirty="0"/>
          </a:p>
        </p:txBody>
      </p:sp>
      <p:pic>
        <p:nvPicPr>
          <p:cNvPr id="9" name="Image 0" descr="/home/claude/build/img/s1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6776"/>
            <a:ext cx="3931920" cy="360320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36776"/>
            <a:ext cx="3931920" cy="3603206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34840" y="14173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요일·시간대 탭</a:t>
            </a:r>
            <a:endParaRPr lang="en-US" sz="850" dirty="0"/>
          </a:p>
        </p:txBody>
      </p:sp>
      <p:pic>
        <p:nvPicPr>
          <p:cNvPr id="12" name="Image 1" descr="/home/claude/build/img/s19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36776"/>
            <a:ext cx="2606040" cy="117313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17720" y="1636776"/>
            <a:ext cx="2606040" cy="1173137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943824" y="1727584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3544358" y="1727584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465829" y="194251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459508" y="2094226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465829" y="2574653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529044" y="395272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3923643" y="4268793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4990933" y="156513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 선택 → 최근 7일·30일·직접 선택 → 카드·그래프·표 갱신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데이터 올리기 클릭 → 업로드 모달(P01)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마지막 업로드 안내 확인 → 업로드 일자·방식 표시 → 자세히 보기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 카드 확인 → 총 매출·판매 건수·객단가·캠페인 기간 매출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일별 매출 추이 확인 → 캠페인 진행 기간 음영·라벨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탭 전환 → 상품별·캠페인별·요일·시간대 → 표 갱신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배지 확인 → 인기·보통·재고 많음·비인기 → SCR-U-009 제안 근거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요일·시간대 탭 → 판매 일자 기준 요일별 매출·일평균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0"/>
          <p:cNvSpPr/>
          <p:nvPr/>
        </p:nvSpPr>
        <p:spPr>
          <a:xfrm>
            <a:off x="7516368" y="4932045"/>
            <a:ext cx="4151376" cy="700659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562088" y="4959477"/>
            <a:ext cx="4059936" cy="654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매출 데이터가 없으면 그래프 대신 업로드 안내와 버튼 표시 (결과 없음)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캠페인별 탭: 게시 전 7일과 게시 후 7일 대상 메뉴 매출 비교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시간대 분석은 판매 시각이 있는 데이터만 집계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결과없음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오류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처리불가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완료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데이터 올리기 → 업로드 모달 → SCR-U-008-P01 매출 데이터 올리기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20 · 매출 업로드 1단계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SCR-U-008-P01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데이터 올리기 · 1단계 올리기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데이터 업로드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성과분석 &gt; 매출 데이터 올리기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엑셀/CSV 파일 선택</a:t>
            </a:r>
            <a:endParaRPr lang="en-US" sz="850" dirty="0"/>
          </a:p>
        </p:txBody>
      </p:sp>
      <p:pic>
        <p:nvPicPr>
          <p:cNvPr id="9" name="Image 0" descr="/home/claude/build/img/s20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6776"/>
            <a:ext cx="3291840" cy="271160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36776"/>
            <a:ext cx="3291840" cy="2711603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74904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영수증 사진 인식 중 (모의 OCR)</a:t>
            </a:r>
            <a:endParaRPr lang="en-US" sz="850" dirty="0"/>
          </a:p>
        </p:txBody>
      </p:sp>
      <p:pic>
        <p:nvPicPr>
          <p:cNvPr id="12" name="Image 1" descr="/home/claude/build/img/s20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36776"/>
            <a:ext cx="3291840" cy="2711603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931920" y="1636776"/>
            <a:ext cx="3291840" cy="2711603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478049" y="1887805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518647" y="2312929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507157" y="247378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1862958" y="318615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794019" y="353659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3184290" y="392150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512902" y="392150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5004473" y="2312929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표시 확인 → 1 올리기·2 결과 확인·3 분석 완료 → 현재 단계 강조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방식 탭 → 엑셀/CSV·영수증 사진·직접 입력 선택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끌어다 놓기·클릭 → 형식(xlsx·xls·csv)·10MB 검사 → 파일명·용량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파일 선택 → 기존 파일 해제 → 파일 다시 선택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양식 파일 내려받기 → 일자·상품명·수량·금액 양식 저장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클릭 → 파일 읽기 → 2단계 결과 확인 이동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취소·✕ 클릭 → 업로드 취소 → 모달 닫고 SCR-U-008 유지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영수증 사진 업로드 → jpg·png 검사 → '영수증을 인식하고 있어요' 후 2단계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0"/>
          <p:cNvSpPr/>
          <p:nvPr/>
        </p:nvSpPr>
        <p:spPr>
          <a:xfrm>
            <a:off x="7516368" y="4796028"/>
            <a:ext cx="4151376" cy="836676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562088" y="4823460"/>
            <a:ext cx="4059936" cy="79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직접 입력 탭: 일자·상품(매장 메뉴 목록)·수량·금액 행 추가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파일·사진·행이 없으면 다음 비활성, 형식·용량 오류는 업로드 영역 아래 안내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영수증 인식은 모의 처리 (실제 OCR은 선택 기능)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오류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처리불가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완료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파일 읽기·영수증 인식 → SCR-U-008-P01 2단계 결과 확인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21 · 매출 업로드 2·3단계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SCR-U-008-P01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데이터 올리기 · 2단계 확인 · 3단계 완료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데이터 업로드 · 매출 인식 결과 확인 및 수정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성과분석 &gt; 매출 데이터 올리기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결과 확인 (확인 필요 2건)</a:t>
            </a:r>
            <a:endParaRPr lang="en-US" sz="850" dirty="0"/>
          </a:p>
        </p:txBody>
      </p:sp>
      <p:pic>
        <p:nvPicPr>
          <p:cNvPr id="9" name="Image 0" descr="/home/claude/build/img/s2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6776"/>
            <a:ext cx="3291840" cy="271160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36776"/>
            <a:ext cx="3291840" cy="2711603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74904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분석 완료</a:t>
            </a:r>
            <a:endParaRPr lang="en-US" sz="850" dirty="0"/>
          </a:p>
        </p:txBody>
      </p:sp>
      <p:pic>
        <p:nvPicPr>
          <p:cNvPr id="12" name="Image 1" descr="/home/claude/build/img/s21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36776"/>
            <a:ext cx="3291840" cy="2711603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931920" y="1636776"/>
            <a:ext cx="3291840" cy="2711603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2902" y="2295695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512902" y="2772523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2351277" y="276677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1707845" y="322637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01412" y="392150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3155566" y="392150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5326189" y="2709329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6423947" y="392150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3890437" y="392150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인식 요약 확인 → 총 인식 건수·확인 필요 건수·분석 기간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 행 확인 → 금액 누락·상품 불일치 행 강조 → 사유 배지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직접 입력 → 숫자 검사 → 배지 '확인됨'으로 변경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 선택 → 매장 메뉴 목록에서 지정 → 상품 매칭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이전 클릭 → 업로드 내용 유지 → 1단계 복귀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 시작 → 확인 필요 0건 검사 → '매출을 분석하고 있어요' 후 3단계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 완료 확인 → 반영 건수·분석 기간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분석 보기 → 모달 닫기 → SCR-U-008 갱신·'매출 데이터가 반영되었어요'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 → 모달 닫기 → 갱신된 SCR-U-008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1"/>
          <p:cNvSpPr/>
          <p:nvPr/>
        </p:nvSpPr>
        <p:spPr>
          <a:xfrm>
            <a:off x="7516368" y="4932045"/>
            <a:ext cx="4151376" cy="700659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562088" y="4959477"/>
            <a:ext cx="4059936" cy="654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확인 필요 행이 남아 있으면 분석 시작 비활성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업로드한 매출은 기존 데이터에 추가되고 SCR-U-009 결과를 다시 계산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1·2단계에서 ✕로 닫으면 업로드 취소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오류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처리불가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완료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분석 보기 → 매출 반영·분석 → SCR-U-008 성과분석 갱신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22 · 개선 방향 (데이터 적음)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SCR-U-009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캠페인 개선 방향 · 데이터 적음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캠페인 개선 방향 확인 · 비인기 메뉴 조언 · 재고 소진 프로모션 제안 · 개선 제안 기반 캠페인 생성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AI 캠페인 개선 방향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4173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사용 · 캠페인 1~2개</a:t>
            </a:r>
            <a:endParaRPr lang="en-US" sz="850" dirty="0"/>
          </a:p>
        </p:txBody>
      </p:sp>
      <p:pic>
        <p:nvPicPr>
          <p:cNvPr id="9" name="Image 0" descr="/home/claude/build/img/s2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6776"/>
            <a:ext cx="3931920" cy="331874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36776"/>
            <a:ext cx="3931920" cy="3318743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34840" y="14173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 중</a:t>
            </a:r>
            <a:endParaRPr lang="en-US" sz="850" dirty="0"/>
          </a:p>
        </p:txBody>
      </p:sp>
      <p:pic>
        <p:nvPicPr>
          <p:cNvPr id="12" name="Image 1" descr="/home/claude/build/img/s22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36776"/>
            <a:ext cx="2606040" cy="75415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17720" y="1636776"/>
            <a:ext cx="2606040" cy="754159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65829" y="2005726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465829" y="241029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2349611" y="241029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5472" y="2941295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465829" y="394640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2349611" y="3946400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5798825" y="1732729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 배너 확인 → 캠페인 수 확인 → '첫 캠페인 결과를 살펴봤어요'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잘된 점 확인 → 매출·캠페인 기반 분석 항목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개선이 필요한 점 확인 → 게시 빈도·문구 등 보완점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캠페인으로 만들기 클릭 → 제안 목표·메뉴 전달 → SCR-U-004-1 자동 선택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비인기 메뉴 조언 확인 → 판매 하위 메뉴의 조합·홍보 방법 제안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재고 소진 프로모션 제안 확인 → 재고 많은 메뉴의 마감 할인 등 제안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분석 중 → 캠페인·매출 데이터 분석 → 결과 카드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19"/>
          <p:cNvSpPr/>
          <p:nvPr/>
        </p:nvSpPr>
        <p:spPr>
          <a:xfrm>
            <a:off x="7516368" y="4796028"/>
            <a:ext cx="4151376" cy="836676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562088" y="4823460"/>
            <a:ext cx="4059936" cy="79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캠페인·매출이 쌓이면 Good/Bad 비교 화면(다음 장)으로 전환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분석 결과는 데이터가 바뀔 때만 다시 계산, 실패 시 '다시 분석하기' 안내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1단계 진입 시 'AI 캠페인 개선 방향에서 가져온 제안이에요' 안내 배너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오류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처리불가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완료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캠페인으로 만들기 → 목표·메뉴 자동 연동 → SCR-U-004-1 목표 설정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23 · 개선 방향 (Good/Bad)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SCR-U-009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캠페인 개선 방향 · 데이터 많음 (Good/Bad 비교)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캠페인 개선 방향 확인 · 개선 제안 기반 캠페인 생성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AI 캠페인 개선 방향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pic>
        <p:nvPicPr>
          <p:cNvPr id="8" name="Image 0" descr="/home/claude/build/img/s2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1868" y="1417320"/>
            <a:ext cx="3608664" cy="4206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081868" y="1417320"/>
            <a:ext cx="3608664" cy="4206240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989703" y="1741491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2047720" y="2339067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776630" y="2333265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2105737" y="2733583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2047720" y="3296349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782431" y="3296349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2163754" y="3783693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2047720" y="4706165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안내 확인 → '잘된 캠페인과 아쉬운 캠페인을 비교했어요'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Good 캠페인 확인 → 전환율이 높은 캠페인·채널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Bad 캠페인 확인 → 전환율이 낮은 캠페인·원인 요약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 비교 → 조회·클릭·방문 전환·전환율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잘된 점에서 배울 것 → Good 캠페인 성공 요인 정리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 항목 → Bad 캠페인 보완 방향 제안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캠페인으로 만들기 → 제안 목표·메뉴 전달 → SCR-U-004-1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비인기 메뉴·재고 소진 제안 → 데이터 적음 화면과 같은 구성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7"/>
          <p:cNvSpPr/>
          <p:nvPr/>
        </p:nvSpPr>
        <p:spPr>
          <a:xfrm>
            <a:off x="7516368" y="4932045"/>
            <a:ext cx="4151376" cy="700659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562088" y="4959477"/>
            <a:ext cx="4059936" cy="654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Good/Bad 판정 기준과 비교 시작 캠페인 수(3개 이상 가정)는 팀 협의로 확정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시연에서는 개발용 설정으로 데이터 많음 화면 전환, 지표는 예시 데이터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오류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처리불가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완료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캠페인으로 만들기 → 목표·메뉴 자동 연동 → SCR-U-004-1 목표 설정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화면설계서 · Storyboard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24 · 구독 관리 및 크레딧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1127455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594360"/>
                <a:gridCol w="1783080"/>
                <a:gridCol w="548640"/>
                <a:gridCol w="1051560"/>
                <a:gridCol w="640080"/>
                <a:gridCol w="2606040"/>
                <a:gridCol w="4572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Screen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SCR-U-010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 관리 및 크레딧 (이용권)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소상공인 사장님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 현황 조회 · 요금제 구독 및 전환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&gt; 구독 관리 및 크레딧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325880"/>
            <a:ext cx="6858000" cy="4370832"/>
          </a:xfrm>
          <a:prstGeom prst="rect">
            <a:avLst/>
          </a:prstGeom>
          <a:solidFill>
            <a:srgbClr val="FAFBFD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플랜 (2/3회 사용)</a:t>
            </a:r>
            <a:endParaRPr lang="en-US" sz="850" dirty="0"/>
          </a:p>
        </p:txBody>
      </p:sp>
      <p:pic>
        <p:nvPicPr>
          <p:cNvPr id="9" name="Image 0" descr="/home/claude/build/img/s2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6776"/>
            <a:ext cx="3291840" cy="28049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36776"/>
            <a:ext cx="3291840" cy="2804944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74904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횟수 소진 (3/3회)</a:t>
            </a:r>
            <a:endParaRPr lang="en-US" sz="850" dirty="0"/>
          </a:p>
        </p:txBody>
      </p:sp>
      <p:pic>
        <p:nvPicPr>
          <p:cNvPr id="12" name="Image 1" descr="/home/claude/build/img/s24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36776"/>
            <a:ext cx="3291840" cy="286473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931920" y="1636776"/>
            <a:ext cx="3291840" cy="2864734"/>
          </a:xfrm>
          <a:prstGeom prst="rect">
            <a:avLst/>
          </a:prstGeom>
          <a:ln w="9525">
            <a:solidFill>
              <a:srgbClr val="C7D2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47306" y="2007931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505522" y="2251379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447306" y="274356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2024426" y="2743568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2093226" y="3907884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3891582" y="2385832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3891582" y="4078629"/>
            <a:ext cx="210312" cy="21031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7452360" y="1325880"/>
            <a:ext cx="4279392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solidFill>
            <a:srgbClr val="263F5E"/>
          </a:solidFill>
          <a:ln w="12700">
            <a:solidFill>
              <a:srgbClr val="263F5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452360" y="132588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(화면설명)</a:t>
            </a:r>
            <a:endParaRPr lang="en-US" sz="1050" dirty="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28216"/>
          <a:ext cx="4187952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3895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달 이용 현황 확인 → 사용 횟수 n/3회·사용률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리셋일 확인 → 매월 1일 무료 횟수 초기화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플랜 확인 → 월 3회·시안 A/B·직접 수정·다운로드·채널 2개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 플랜(월 9,900원) 확인 → 횟수 확대·AI 재분석·AI 문구 대안·AI 이미지 수정·참고 이미지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구독하기 클릭 → 상태값 모의 결제 → 구독 플랜 전환 (현재 시안: '구독 기능은 곧 열릴 예정이에요' 안내)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소진 안내 확인 → 3/3회 사용 시 경고 표시 → 구독 안내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302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이용 중 확인 → 현재 플랜 버튼 비활성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22860" marB="22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19"/>
          <p:cNvSpPr/>
          <p:nvPr/>
        </p:nvSpPr>
        <p:spPr>
          <a:xfrm>
            <a:off x="7516368" y="4796028"/>
            <a:ext cx="4151376" cy="836676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562088" y="4823460"/>
            <a:ext cx="4059936" cy="79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3/3회 소진 상태에서 캠페인 생성 시 업그레이드 안내 후 이 화면으로 이동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구독(유료) 상태 화면과 결제 모달은 다음 버전에서 설계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4·5단계 화면에는 크레딧 차감량 미표시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57200" y="5788152"/>
            <a:ext cx="11274552" cy="475488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66928" y="57881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상태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417320" y="57881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정상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결과없음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오류     </a:t>
            </a:r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처리불가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완료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669280" y="57881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화면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6446520" y="57881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구독하기 → 상태값 모의 결제 → 플랜 갱신 (현재 시안: 안내 토스트)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구현 범위와 프로토타입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범위 · 제출 정보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420624" cy="420624"/>
          </a:xfrm>
          <a:prstGeom prst="ellipse">
            <a:avLst/>
          </a:prstGeom>
          <a:solidFill>
            <a:srgbClr val="4A71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005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범위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0058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기능 F01~F11 · F13 · F14 · F16 · F17 · F19를 화면과 화면 내 기능으로 설계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기능 중 F15(구독, 무료 플랜 화면) · F18(7일 뒤 성과 입력 알림 토글) 포함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1865376"/>
            <a:ext cx="420624" cy="420624"/>
          </a:xfrm>
          <a:prstGeom prst="ellipse">
            <a:avLst/>
          </a:prstGeom>
          <a:solidFill>
            <a:srgbClr val="4A71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7922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범위 제외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79222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SNS 블로그 게시 연동(«extend», 5단계 모의 게시로 대체) · 구독(유료) 상태 화면과 결제 모달 · 서비스 관리자 화면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420624" cy="420624"/>
          </a:xfrm>
          <a:prstGeom prst="ellipse">
            <a:avLst/>
          </a:prstGeom>
          <a:solidFill>
            <a:srgbClr val="4A71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786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설계·시안 구분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5786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게시 · 영수증 인식(OCR) · AI 응답은 프로토타입에서 모의 처리합니다.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속 캠페인 · 매출 · 지표 수치와 이미지는 시연용 예시 데이터입니다.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438144"/>
            <a:ext cx="420624" cy="420624"/>
          </a:xfrm>
          <a:prstGeom prst="ellipse">
            <a:avLst/>
          </a:prstGeom>
          <a:solidFill>
            <a:srgbClr val="4A71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3649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출처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364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2026-10-22 Figma Make 프로토타입 녹화·캡처 기준 (디자인 원본: Figma Design 프레임 SCR-U-xxx)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1~3단계 다음 단계 확인 팝업은 프로토타입 반영 후 캡처 교체 예정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224528"/>
            <a:ext cx="420624" cy="420624"/>
          </a:xfrm>
          <a:prstGeom prst="ellipse">
            <a:avLst/>
          </a:prstGeom>
          <a:solidFill>
            <a:srgbClr val="4A71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15137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편집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4151376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시연용 '개발 바로가기' 버튼, 테스트 이메일·파일명, 4단계 안내 문구의 '(구독 시 3가지)'는 확정 사항에 맞게 지우거나 예시 값으로 바꿨습니다.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010912"/>
            <a:ext cx="420624" cy="420624"/>
          </a:xfrm>
          <a:prstGeom prst="ellipse">
            <a:avLst/>
          </a:prstGeom>
          <a:solidFill>
            <a:srgbClr val="4A71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9377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링크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49377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 Make 편집 · 미리보기 링크는 제출 시 기재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806440"/>
            <a:ext cx="11064240" cy="457200"/>
          </a:xfrm>
          <a:prstGeom prst="rect">
            <a:avLst/>
          </a:prstGeom>
          <a:solidFill>
            <a:srgbClr val="EEF3F7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Good/Bad 판정 기준, 비교 시작 캠페인 수, 구독 시 채널 한도는 팀 협의 후 확정합니다.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제출 전 체크리스트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2743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최종 점검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0"/>
          </a:xfrm>
          <a:prstGeom prst="line">
            <a:avLst/>
          </a:prstGeom>
          <a:noFill/>
          <a:ln w="22225">
            <a:solidFill>
              <a:srgbClr val="4A71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59752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 캡스톤디자인 | 화면설계서·Storyboard Template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9601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A71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1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9601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PROJECT.md의 주요 기능(F01~F19)이 화면 또는 화면 내 기능에 반영되어 있다. (선택 기능 F12는 제외 사유 기재)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15453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A71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1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5453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유스케이스 다이어그램(2026-10-20)의 Use Case가 화면 또는 화면 내 기능과 연결되어 있다. (실제 SNS 블로그 게시 연동 제외)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21305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A71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1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1305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Actor(비회원 · 소상공인 사장님)별 화면이 구분되어 있다. 서비스 관리자는 이번 범위에서 제외했다.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27157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A71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1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7157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화면에 Screen ID, 화면명, 관련 Use Case, 경로가 기재되어 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33009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A71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1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30098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입력·버튼·조회결과·팝업 등에 번호가 있고 Description과 대응된다.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3886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A71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1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886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정상뿐 아니라 입력 오류 · 결과 없음 · 처리 불가 · 완료 상태를 필요한 경우 표현했다.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1520" y="44714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A71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1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4714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클릭 후 처리 내용과 다음 화면 이동이 [행위] → [처리] → [결과] 형식으로 명확하다.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solidFill>
            <a:srgbClr val="EEF3F7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5760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파일명 : [사계절] 화면설계서_20261022.pptx / 최신 수정: 2026-10-22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Hannam Univ.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[사계절] 화면설계서</dc:title>
  <dc:subject>PptxGenJS Presentation</dc:subject>
  <dc:creator>사계절</dc:creator>
  <cp:lastModifiedBy>사계절</cp:lastModifiedBy>
  <cp:revision>1</cp:revision>
  <dcterms:created xsi:type="dcterms:W3CDTF">2026-10-22T10:37:07Z</dcterms:created>
  <dcterms:modified xsi:type="dcterms:W3CDTF">2026-10-22T10:37:07Z</dcterms:modified>
</cp:coreProperties>
</file>